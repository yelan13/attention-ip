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e8e1d68af4e00" /><Relationship Type="http://schemas.openxmlformats.org/officeDocument/2006/relationships/extended-properties" Target="/docProps/app.xml" Id="R3cd9cf5ff96c49f8" /><Relationship Type="http://schemas.openxmlformats.org/officeDocument/2006/relationships/officeDocument" Target="/ppt/presentation.xml" Id="R5576f292398e49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3742ef8a94868"/>
  </p:sldMasterIdLst>
  <p:notesMasterIdLst>
    <p:notesMasterId xmlns:r="http://schemas.openxmlformats.org/officeDocument/2006/relationships" r:id="R01c2672119d340d1"/>
  </p:notesMasterIdLst>
  <p:sldIdLst>
    <p:sldId xmlns:r="http://schemas.openxmlformats.org/officeDocument/2006/relationships" id="256" r:id="R4eda1aab828b492c"/>
    <p:sldId xmlns:r="http://schemas.openxmlformats.org/officeDocument/2006/relationships" id="257" r:id="Ra5eca8a892b84985"/>
    <p:sldId xmlns:r="http://schemas.openxmlformats.org/officeDocument/2006/relationships" id="258" r:id="Rcc6b571b1f854228"/>
    <p:sldId xmlns:r="http://schemas.openxmlformats.org/officeDocument/2006/relationships" id="259" r:id="Rd286e2f8aaa944e9"/>
    <p:sldId xmlns:r="http://schemas.openxmlformats.org/officeDocument/2006/relationships" id="260" r:id="R69034bb43b1444f2"/>
    <p:sldId xmlns:r="http://schemas.openxmlformats.org/officeDocument/2006/relationships" id="261" r:id="Rd4b51230b0e74286"/>
    <p:sldId xmlns:r="http://schemas.openxmlformats.org/officeDocument/2006/relationships" id="262" r:id="R0ddec8898e9c4fa1"/>
    <p:sldId xmlns:r="http://schemas.openxmlformats.org/officeDocument/2006/relationships" id="263" r:id="Rf7f7ee2dffa24b96"/>
    <p:sldId xmlns:r="http://schemas.openxmlformats.org/officeDocument/2006/relationships" id="264" r:id="R7d534346c24649fc"/>
    <p:sldId xmlns:r="http://schemas.openxmlformats.org/officeDocument/2006/relationships" id="265" r:id="Ra261bdee1b7346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ce92a67e974bc6" /><Relationship Type="http://schemas.openxmlformats.org/officeDocument/2006/relationships/slideMaster" Target="/ppt/slideMasters/slideMaster1.xml" Id="R8c33742ef8a94868" /><Relationship Type="http://schemas.openxmlformats.org/officeDocument/2006/relationships/notesMaster" Target="/ppt/notesMasters/notesMaster1.xml" Id="R01c2672119d340d1" /><Relationship Type="http://schemas.openxmlformats.org/officeDocument/2006/relationships/presProps" Target="/ppt/presProps.xml" Id="R00930bd5065f448a" /><Relationship Type="http://schemas.openxmlformats.org/officeDocument/2006/relationships/tableStyles" Target="/ppt/tableStyles.xml" Id="Re37875f7970c410d" /><Relationship Type="http://schemas.openxmlformats.org/officeDocument/2006/relationships/slide" Target="/ppt/slides/slide1.xml" Id="R4eda1aab828b492c" /><Relationship Type="http://schemas.openxmlformats.org/officeDocument/2006/relationships/slide" Target="/ppt/slides/slide2.xml" Id="Ra5eca8a892b84985" /><Relationship Type="http://schemas.openxmlformats.org/officeDocument/2006/relationships/slide" Target="/ppt/slides/slide3.xml" Id="Rcc6b571b1f854228" /><Relationship Type="http://schemas.openxmlformats.org/officeDocument/2006/relationships/slide" Target="/ppt/slides/slide4.xml" Id="Rd286e2f8aaa944e9" /><Relationship Type="http://schemas.openxmlformats.org/officeDocument/2006/relationships/slide" Target="/ppt/slides/slide5.xml" Id="R69034bb43b1444f2" /><Relationship Type="http://schemas.openxmlformats.org/officeDocument/2006/relationships/slide" Target="/ppt/slides/slide6.xml" Id="Rd4b51230b0e74286" /><Relationship Type="http://schemas.openxmlformats.org/officeDocument/2006/relationships/slide" Target="/ppt/slides/slide7.xml" Id="R0ddec8898e9c4fa1" /><Relationship Type="http://schemas.openxmlformats.org/officeDocument/2006/relationships/slide" Target="/ppt/slides/slide8.xml" Id="Rf7f7ee2dffa24b96" /><Relationship Type="http://schemas.openxmlformats.org/officeDocument/2006/relationships/slide" Target="/ppt/slides/slide9.xml" Id="R7d534346c24649fc" /><Relationship Type="http://schemas.openxmlformats.org/officeDocument/2006/relationships/slide" Target="/ppt/slides/slide10.xml" Id="Ra261bdee1b73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65381a2b147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91ce91cd44ee1" /><Relationship Type="http://schemas.openxmlformats.org/officeDocument/2006/relationships/notesMaster" Target="/ppt/notesMasters/notesMaster1.xml" Id="R41497402219946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50f8845be746de" /><Relationship Type="http://schemas.openxmlformats.org/officeDocument/2006/relationships/notesMaster" Target="/ppt/notesMasters/notesMaster1.xml" Id="R15dac947b1544f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f2d15f8a994888" /><Relationship Type="http://schemas.openxmlformats.org/officeDocument/2006/relationships/notesMaster" Target="/ppt/notesMasters/notesMaster1.xml" Id="R6cee9a97f49446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74e309561b4792" /><Relationship Type="http://schemas.openxmlformats.org/officeDocument/2006/relationships/notesMaster" Target="/ppt/notesMasters/notesMaster1.xml" Id="R1306d9c79f284a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9aad7bc4ef41a7" /><Relationship Type="http://schemas.openxmlformats.org/officeDocument/2006/relationships/notesMaster" Target="/ppt/notesMasters/notesMaster1.xml" Id="Rd13480119b764a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0db706be6442f4" /><Relationship Type="http://schemas.openxmlformats.org/officeDocument/2006/relationships/notesMaster" Target="/ppt/notesMasters/notesMaster1.xml" Id="Rebef76bb0b9a4a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0cedf176154a98" /><Relationship Type="http://schemas.openxmlformats.org/officeDocument/2006/relationships/notesMaster" Target="/ppt/notesMasters/notesMaster1.xml" Id="Rff2023c494e24e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08b3a4d24d43d4" /><Relationship Type="http://schemas.openxmlformats.org/officeDocument/2006/relationships/notesMaster" Target="/ppt/notesMasters/notesMaster1.xml" Id="Rc6a5aebb93c747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81cd317df24a74" /><Relationship Type="http://schemas.openxmlformats.org/officeDocument/2006/relationships/notesMaster" Target="/ppt/notesMasters/notesMaster1.xml" Id="R92f973b54b6940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59c5350e574f02" /><Relationship Type="http://schemas.openxmlformats.org/officeDocument/2006/relationships/notesMaster" Target="/ppt/notesMasters/notesMaster1.xml" Id="Re0bb9895234f45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材料来源：rtl/、tb/、sim/、doc/Attention加速器IP设计报告.docx（本次项目工作目录）。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数字来源：sim/sim_log.txt（169 周期、全部用例通过），doc/Attention加速器IP设计报告.docx 表 8（824 bit）。RTL 与 testbench 均为 SystemVerilog（.sv），仿真用 iverilog -g2012。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公式与示例来自题目文档第 2~3 页；核对结果见 model/attention_golden.py --selftest。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结构对应 rtl/attention_top.sv 的状态机与数据通路，图见设计报告图 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周期数由 testbench 统计，见 sim/sim_log.txt 与 doc/wave_overview.png；状态用 typedef enum 定义，波形中直接显示状态名。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实现见 rtl/exp_lut.sv 与 rtl/seq_div.sv；对应设计报告表 3 与 4.5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结果见 sim/sim_log.txt；波形来自 sim/waves/tb_attention.vcd 渲染。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波形文件 sim/waves/tb_attention.vcd，由 sim/vcd_wave.py 渲染；答辩可现场重跑 sim/run_sim.ps1。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扩展分析对应设计报告 8.3 节与表 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改进项对应题目加分项 A~G；完整数据见设计报告第 7、8、10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f6da0dda54b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cd42c67d344a9" /><Relationship Type="http://schemas.openxmlformats.org/officeDocument/2006/relationships/slideLayout" Target="/ppt/slideLayouts/slideLayout1.xml" Id="R02c46b33108944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c46b33108944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f5a80ee6649d4" /><Relationship Type="http://schemas.openxmlformats.org/officeDocument/2006/relationships/notesSlide" Target="/ppt/notesSlides/notesSlide1.xml" Id="R4e5369fd3331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1b30a86104067" /><Relationship Type="http://schemas.openxmlformats.org/officeDocument/2006/relationships/notesSlide" Target="/ppt/notesSlides/notesSlide2.xml" Id="R399e72342c2541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17f48ce10441b" /><Relationship Type="http://schemas.openxmlformats.org/officeDocument/2006/relationships/notesSlide" Target="/ppt/notesSlides/notesSlide3.xml" Id="R98c5e950ddf1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b746e09e143ba" /><Relationship Type="http://schemas.openxmlformats.org/officeDocument/2006/relationships/notesSlide" Target="/ppt/notesSlides/notesSlide4.xml" Id="R0c1f198b0253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2a8e18e51483e" /><Relationship Type="http://schemas.openxmlformats.org/officeDocument/2006/relationships/notesSlide" Target="/ppt/notesSlides/notesSlide5.xml" Id="R6cb960c5d9c649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ae9cb1ccd43b4" /><Relationship Type="http://schemas.openxmlformats.org/officeDocument/2006/relationships/notesSlide" Target="/ppt/notesSlides/notesSlide6.xml" Id="R030132e684944a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11f0d80fb4b28" /><Relationship Type="http://schemas.openxmlformats.org/officeDocument/2006/relationships/image" Target="/ppt/media/image.png" Id="Rc31600724a454324" /><Relationship Type="http://schemas.openxmlformats.org/officeDocument/2006/relationships/notesSlide" Target="/ppt/notesSlides/notesSlide7.xml" Id="Rc8c9f5904e3b4d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d4b7e9360499d" /><Relationship Type="http://schemas.openxmlformats.org/officeDocument/2006/relationships/image" Target="/ppt/media/image2.png" Id="Rd42e18795a764c97" /><Relationship Type="http://schemas.openxmlformats.org/officeDocument/2006/relationships/notesSlide" Target="/ppt/notesSlides/notesSlide8.xml" Id="Rc5a8e5169b6444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ddf8a30e54a1f" /><Relationship Type="http://schemas.openxmlformats.org/officeDocument/2006/relationships/notesSlide" Target="/ppt/notesSlides/notesSlide9.xml" Id="R2f2b2cbf8b834c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ee9873a64499e" /><Relationship Type="http://schemas.openxmlformats.org/officeDocument/2006/relationships/notesSlide" Target="/ppt/notesSlides/notesSlide10.xml" Id="R7b0bc09c64884f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B87C2-F622-48DC-8554-A0CF020B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36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Attention 加速器 IP 设计与验证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1DE46-C5C2-4F47-A4A3-39A88216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36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数字组招生实践项目（大二）A 题 · 规模 S = 8、d =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87EF5-A2E8-476E-A573-944B6270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036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SystemVerilog (IEEE 1800-2012) · Icarus Verilog 12.0 · 450 个仿真用例全部通过</a:t>
            </a:r>
          </a:p>
        </p:txBody>
      </p:sp>
    </p:spTree>
    <p:extLst>
      <p:ext uri="{BB962C8B-B14F-4D97-AF65-F5344CB8AC3E}">
        <p14:creationId xmlns:p14="http://schemas.microsoft.com/office/powerpoint/2010/main" val="543675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294A9-6278-4ACF-B5CA-2D0D5023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任务范围与实现结果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75824-025E-46E9-AEE9-1AAF6ED7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按题目正式任务规模用 SystemVerilog 实现基础 Attention RTL IP：S = 8 个 Token、d = 4 维，输入输出 8-bit 有符号整数。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2E607-92A8-4D44-86F2-0FDC463C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必须先求 x_max，再计算 exp(score − x_max)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weight 为无符号定点，小数固定 4 位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输出 O = round(ACC / L)，8-bit 有符号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A7A75-A45A-47BE-9FA7-6B2F2477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169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829C8-7160-427B-85AC-4C624569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33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个时钟周期 / 次任务（100 MHz 下 1.69 µs）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1355E-280D-46F2-9CCE-4CFC7A55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450 / 450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66913-1DCC-424E-96C5-7AB7F7A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719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仿真用例与黄金模型逐位一致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7A9CC-8174-4551-A261-04A0474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824 bit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F6E16-7FBC-4543-896F-FE6D45A7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0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片上存储（寄存器与 Buffer）</a:t>
            </a:r>
          </a:p>
        </p:txBody>
      </p:sp>
    </p:spTree>
    <p:extLst>
      <p:ext uri="{BB962C8B-B14F-4D97-AF65-F5344CB8AC3E}">
        <p14:creationId xmlns:p14="http://schemas.microsoft.com/office/powerpoint/2010/main" val="11673876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0A551-3E11-4915-AB78-76047DB5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算法与定点规则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68FF0-1156-4FCC-B2B6-38EA259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90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score_j = Σ Q[k] × K_j[k]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x_max = max(score_j)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weight_j = round( exp(score_j − x_max) × 16 )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L = Σ weight_j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ACC[k] = Σ weight_j × V_j[k]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O[k] = round( ACC[k] / L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249C1-71BB-4F7B-8C38-488FFDAE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题目手算示例核对（S = 2、d = 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4FA43-69D3-4774-BFA5-2440C264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52625"/>
            <a:ext cx="44577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Q = [1, 2]，K0 = [1, 0]，K1 = [0, 1]</a:t>
            </a:r>
          </a:p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V0 = [4, 2]，V1 = [1, 6]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score = [1, 2]，x_max = 2</a:t>
            </a:r>
          </a:p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weight = [6, 16]（0.375 与 1.000）</a:t>
            </a:r>
          </a:p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L = 22，ACC = [40, 108]</a:t>
            </a:r>
          </a:p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O = [2, 5]，与题目结果一致</a:t>
            </a:r>
          </a:p>
        </p:txBody>
      </p:sp>
    </p:spTree>
    <p:extLst>
      <p:ext uri="{BB962C8B-B14F-4D97-AF65-F5344CB8AC3E}">
        <p14:creationId xmlns:p14="http://schemas.microsoft.com/office/powerpoint/2010/main" val="14854531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A2AB2-28CB-4C2E-A40A-CDEC0275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硬件架构与数据流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F0C1A-9F8A-4793-970F-65080E8A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00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Q / K / V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寄存器与 Buffer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4A8F2-C26F-48AB-A745-2A56CB52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2895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FCC75-7D38-46F5-B0E8-2BA3FF4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67000"/>
            <a:ext cx="1600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点积单元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 个 8b×8b 乘法器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11DE3-D1BF-461B-8D9A-53B95A44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01175-E1E6-404A-8B18-EE84E40A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67000"/>
            <a:ext cx="1600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x_max 检索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18 位比较器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8FC90-0A53-4631-96AA-DD0EDA5F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750EB-024C-4694-82CF-03BB80A1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7000"/>
            <a:ext cx="1600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E5D6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exp_lut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weight = Q4.4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BEE97-9F32-4153-8588-904723C3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267B7-9F82-4F59-AA32-4AA3447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600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4 路 ACC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weight × V 累加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35950-B804-4334-8DBF-4F972A57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133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2B0BD-ED89-44AF-8FDE-69D58913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600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除法与输出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round(ACC / L)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7AA15-F681-4A05-8062-B8FF7370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Score Buffer 8 × 18b · Weight Buffer 8 × 5b · 4 路 ACC 16b · 状态机按 11 个状态调度数据流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10932-0A6C-4DEA-9B9C-017947B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单乘法器串行点积（4 拍 1 个 Score）控制面积；加权累加用 4 路并行乘加，8 拍完成 8 个 Token。</a:t>
            </a:r>
          </a:p>
        </p:txBody>
      </p:sp>
    </p:spTree>
    <p:extLst>
      <p:ext uri="{BB962C8B-B14F-4D97-AF65-F5344CB8AC3E}">
        <p14:creationId xmlns:p14="http://schemas.microsoft.com/office/powerpoint/2010/main" val="1724104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B5103-F266-407B-8CC5-67910584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状态机与周期分解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6667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143000"/>
                <a:gridCol w="3619500"/>
              </a:tblGrid>
              <a:tr h="402167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主要动作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LOAD_Q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装载 Q 到寄存器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LOAD_KV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K/V 写入 Buffer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串行点积，得 8 个 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 x_max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查表得 weight，累加 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路并行加权累加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次顺序除法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216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O[0]~O[3]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3D26E-3B2B-4688-9196-BD5CF219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合计 169 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0A85D-0995-423D-BA55-C33CF757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695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100 MHz 下 1.69 µs / 次任务；done 之后立即回到 IDLE，可背靠背启动下一个 Query。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B8524-9EAF-4A7C-B8E5-F74F4242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3695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归一化占 43% 时间，原因是顺序除法器被 4 个输出分时复用。</a:t>
            </a:r>
          </a:p>
        </p:txBody>
      </p:sp>
    </p:spTree>
    <p:extLst>
      <p:ext uri="{BB962C8B-B14F-4D97-AF65-F5344CB8AC3E}">
        <p14:creationId xmlns:p14="http://schemas.microsoft.com/office/powerpoint/2010/main" val="804963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B4F6C-7DF4-4C6A-94BC-DF0F2E7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指数查找表与归一化舍入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DA877-E97F-467D-AF6B-5C4CDE41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exp_lut 表内容（weight 为无符号 Q4.4）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5334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800100"/>
                <a:gridCol w="800100"/>
                <a:gridCol w="800100"/>
                <a:gridCol w="800100"/>
                <a:gridCol w="800100"/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mag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4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exp(−mag)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0.02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F7E53-A699-423D-B930-2310FE1B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Score 为整数，因此表只需覆盖 0~4 共 5 个地址；分数相差 5 以上的 Token 权重下溢为 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4101C-4A4B-4AD2-B951-55DE2D49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归一化舍入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D350D-979A-453A-9CF6-F1432FBA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8387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除法器先取 |ACC|，加上 L/2 后整除 L，再恢复符号。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当 L 为偶数时 L/2 恰好是 0.5L；L 为奇数时等式 2|ACC| = L(2n+1) 左边偶数、右边奇数，不可能成立，因此不会出现半整数平局。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该实现与“四舍五入、0.5 远离 0”完全等价，一次除法 16 拍。</a:t>
            </a:r>
          </a:p>
        </p:txBody>
      </p:sp>
    </p:spTree>
    <p:extLst>
      <p:ext uri="{BB962C8B-B14F-4D97-AF65-F5344CB8AC3E}">
        <p14:creationId xmlns:p14="http://schemas.microsoft.com/office/powerpoint/2010/main" val="14599293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F6BE0-73F3-44B0-B44A-730155BD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验证方法与结果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60B60-0BA3-4FCB-8A20-896DAEFC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Python 黄金模型按题目规则生成期望值，testbench 驱动协议并逐项比对 4 拍输出，同时检查 done 时序与 X 值。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5905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333500"/>
                <a:gridCol w="1905000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用例类型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定向用例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随机用例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压力测试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951A5-E300-40E6-8C63-A7428594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随机覆盖全量程 ±128 与小量程 ±8；压力测试 400 个随机用例（种子 12345）。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600724a454324"/>
          <a:stretch xmlns:a="http://schemas.openxmlformats.org/drawingml/2006/main"/>
        </p:blipFill>
        <p:spPr>
          <a:xfrm xmlns:a="http://schemas.openxmlformats.org/drawingml/2006/main">
            <a:off x="6858000" y="2402562"/>
            <a:ext cx="4648200" cy="24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2409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602E7-BAEA-4437-A075-75E8B9DA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单次任务波形：169 拍全流程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e18795a764c97"/>
          <a:stretch xmlns:a="http://schemas.openxmlformats.org/drawingml/2006/main"/>
        </p:blipFill>
        <p:spPr>
          <a:xfrm xmlns:a="http://schemas.openxmlformats.org/drawingml/2006/main">
            <a:off x="1489192" y="1428750"/>
            <a:ext cx="9213616" cy="4000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F18D-127C-4518-97A4-C6472E82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start 之后依次为 4 拍 Q、32 拍 K/V、点积、x_max 检索、指数查表、加权累加、4 次除法、4 拍输出，最后 done 拉高 1 拍</a:t>
            </a:r>
          </a:p>
        </p:txBody>
      </p:sp>
    </p:spTree>
    <p:extLst>
      <p:ext uri="{BB962C8B-B14F-4D97-AF65-F5344CB8AC3E}">
        <p14:creationId xmlns:p14="http://schemas.microsoft.com/office/powerpoint/2010/main" val="3056945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A535C-1649-40FB-B144-02D0B54A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性能与序列长度扩展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24790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8（本设计）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= 256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91440" marR="91440" marT="45720" marB="45720"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点积乘加次数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× 4 = 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× 4 = 1024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加权乘加次数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× 4 = 32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 × 4 = 1024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倍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/ V Buffer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 512 bit（64 B）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 16 kbit（2 KB）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片上存储合计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824 bit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26 kbit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倍</a:t>
                      </a:r>
                    </a:p>
                  </a:txBody>
                  <a:tcPr marL="91440" marR="91440" marT="45720" marB="45720"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687AC-39C7-4D6B-B7B0-56366F2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S = 256 时每个 Query 都要搬运 2 KB 的 K/V，带宽成为主要瓶颈；常见做法是批量复用 K/V、块状在线 Softmax、压缩搬运格式。</a:t>
            </a:r>
          </a:p>
        </p:txBody>
      </p:sp>
    </p:spTree>
    <p:extLst>
      <p:ext uri="{BB962C8B-B14F-4D97-AF65-F5344CB8AC3E}">
        <p14:creationId xmlns:p14="http://schemas.microsoft.com/office/powerpoint/2010/main" val="1452152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0BE93-1A21-445A-84B1-5B28C389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改进方向与结论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D870A-6A74-44E5-B5AF-4526C42C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点积改 4 路并行或边装载边计算：装载与点积时间可压缩一半以上，代价是 4 个乘法器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归一化换倒数查找表或并行除法：从 72 拍降到 4~20 拍，代价是 ROM 或多套除法逻辑</a:t>
            </a:r>
          </a:p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weight 提升到 Q1.15 或用分段线性 / CORDIC：缓解权重下溢与最大 9 的输出偏差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CFB2F-3CA3-41C5-86D8-25075AAF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A3DCC-F034-46BF-A3B7-7BFCA83B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IP 已满足题目全部基础要求：x_max 与 exp(score − x_max) 均已实现，位宽逐级推导，450 个用例与黄金模型逐位一致。当前短板是 4 位小数权重在软 Softmax 场景下的量化误差，可通过提高精度或并行流水结构继续优化。</a:t>
            </a:r>
          </a:p>
        </p:txBody>
      </p:sp>
    </p:spTree>
    <p:extLst>
      <p:ext uri="{BB962C8B-B14F-4D97-AF65-F5344CB8AC3E}">
        <p14:creationId xmlns:p14="http://schemas.microsoft.com/office/powerpoint/2010/main" val="520523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2026-09-12T06:54:18.9930000Z</dcterms:created>
  <dcterms:modified xsi:type="dcterms:W3CDTF">2026-09-12T06:54:18.9930000Z</dcterms:modified>
</coreProperties>
</file>